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-731520"/>
            <a:ext cx="3200400" cy="3200400"/>
          </a:xfrm>
          <a:prstGeom prst="ellipse">
            <a:avLst/>
          </a:prstGeom>
          <a:solidFill>
            <a:srgbClr val="1B6B6B">
              <a:alpha val="15000"/>
            </a:srgbClr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64008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בדיקת כדאיות</a:t>
            </a:r>
            <a:endParaRPr lang="en-US" sz="4000" dirty="0"/>
          </a:p>
        </p:txBody>
      </p:sp>
      <p:sp>
        <p:nvSpPr>
          <p:cNvPr id="5" name="Text 3"/>
          <p:cNvSpPr/>
          <p:nvPr/>
        </p:nvSpPr>
        <p:spPr>
          <a:xfrm>
            <a:off x="365760" y="1371600"/>
            <a:ext cx="8412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40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התחדשות עירונית — ML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365760" y="219456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6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Urban Renewal Feasibility Scoring Tool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0"/>
          </a:xfrm>
          <a:prstGeom prst="line">
            <a:avLst/>
          </a:prstGeom>
          <a:noFill/>
          <a:ln w="19050">
            <a:solidFill>
              <a:srgbClr val="1B6B6B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2880360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שקד עקריש</a:t>
            </a:r>
            <a:pPr algn="r" indent="0" marL="0">
              <a:buNone/>
            </a:pPr>
            <a:r>
              <a:rPr lang="en-US" sz="14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|   מנחה: ד"ר איל זינגר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365760" y="3200400"/>
            <a:ext cx="84124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קורס פרויקט מעשי בלמידת מכונה  ·  סמסטר קיץ תשפ"ה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65760" y="3931920"/>
            <a:ext cx="1325880" cy="347472"/>
          </a:xfrm>
          <a:prstGeom prst="rect">
            <a:avLst/>
          </a:prstGeom>
          <a:solidFill>
            <a:srgbClr val="1A3A5C"/>
          </a:solidFill>
          <a:ln w="10160">
            <a:solidFill>
              <a:srgbClr val="1B6B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65760" y="39319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783080" y="3931920"/>
            <a:ext cx="1325880" cy="347472"/>
          </a:xfrm>
          <a:prstGeom prst="rect">
            <a:avLst/>
          </a:prstGeom>
          <a:solidFill>
            <a:srgbClr val="1A3A5C"/>
          </a:solidFill>
          <a:ln w="10160">
            <a:solidFill>
              <a:srgbClr val="1B6B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783080" y="39319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scikit-learn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200400" y="3931920"/>
            <a:ext cx="1325880" cy="347472"/>
          </a:xfrm>
          <a:prstGeom prst="rect">
            <a:avLst/>
          </a:prstGeom>
          <a:solidFill>
            <a:srgbClr val="1A3A5C"/>
          </a:solidFill>
          <a:ln w="10160">
            <a:solidFill>
              <a:srgbClr val="1B6B6B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200400" y="39319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617720" y="3931920"/>
            <a:ext cx="1325880" cy="347472"/>
          </a:xfrm>
          <a:prstGeom prst="rect">
            <a:avLst/>
          </a:prstGeom>
          <a:solidFill>
            <a:srgbClr val="1A3A5C"/>
          </a:solidFill>
          <a:ln w="10160">
            <a:solidFill>
              <a:srgbClr val="1B6B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617720" y="39319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035040" y="3931920"/>
            <a:ext cx="1325880" cy="347472"/>
          </a:xfrm>
          <a:prstGeom prst="rect">
            <a:avLst/>
          </a:prstGeom>
          <a:solidFill>
            <a:srgbClr val="1A3A5C"/>
          </a:solidFill>
          <a:ln w="10160">
            <a:solidFill>
              <a:srgbClr val="1B6B6B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035040" y="39319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452360" y="3931920"/>
            <a:ext cx="1325880" cy="347472"/>
          </a:xfrm>
          <a:prstGeom prst="rect">
            <a:avLst/>
          </a:prstGeom>
          <a:solidFill>
            <a:srgbClr val="1A3A5C"/>
          </a:solidFill>
          <a:ln w="10160">
            <a:solidFill>
              <a:srgbClr val="1B6B6B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7452360" y="3931920"/>
            <a:ext cx="13258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עסקאות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הבעיה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320040" y="914400"/>
            <a:ext cx="2011680" cy="1645920"/>
          </a:xfrm>
          <a:prstGeom prst="rect">
            <a:avLst/>
          </a:prstGeom>
          <a:solidFill>
            <a:srgbClr val="111D2B"/>
          </a:solidFill>
          <a:ln w="19050">
            <a:solidFill>
              <a:srgbClr val="1B6B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320040" y="9601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1,800+</a:t>
            </a:r>
            <a:endParaRPr lang="en-US" sz="3400" dirty="0"/>
          </a:p>
        </p:txBody>
      </p:sp>
      <p:sp>
        <p:nvSpPr>
          <p:cNvPr id="6" name="Text 4"/>
          <p:cNvSpPr/>
          <p:nvPr/>
        </p:nvSpPr>
        <p:spPr>
          <a:xfrm>
            <a:off x="320040" y="173736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פרויקטים פעילים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בישראל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2468880" y="914400"/>
            <a:ext cx="2011680" cy="1645920"/>
          </a:xfrm>
          <a:prstGeom prst="rect">
            <a:avLst/>
          </a:prstGeom>
          <a:solidFill>
            <a:srgbClr val="111D2B"/>
          </a:solidFill>
          <a:ln w="19050">
            <a:solidFill>
              <a:srgbClr val="C6282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2468880" y="9601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30%</a:t>
            </a:r>
            <a:endParaRPr lang="en-US" sz="3400" dirty="0"/>
          </a:p>
        </p:txBody>
      </p:sp>
      <p:sp>
        <p:nvSpPr>
          <p:cNvPr id="9" name="Text 7"/>
          <p:cNvSpPr/>
          <p:nvPr/>
        </p:nvSpPr>
        <p:spPr>
          <a:xfrm>
            <a:off x="2468880" y="173736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מגיעים לביצוע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בפועל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17720" y="914400"/>
            <a:ext cx="2011680" cy="1645920"/>
          </a:xfrm>
          <a:prstGeom prst="rect">
            <a:avLst/>
          </a:prstGeom>
          <a:solidFill>
            <a:srgbClr val="111D2B"/>
          </a:solidFill>
          <a:ln w="19050">
            <a:solidFill>
              <a:srgbClr val="1B6B6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617720" y="9601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1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חודשים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4617720" y="173736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זמן בדיקה ידנית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ממוצע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6766560" y="914400"/>
            <a:ext cx="2011680" cy="1645920"/>
          </a:xfrm>
          <a:prstGeom prst="rect">
            <a:avLst/>
          </a:prstGeom>
          <a:solidFill>
            <a:srgbClr val="111D2B"/>
          </a:solidFill>
          <a:ln w="19050">
            <a:solidFill>
              <a:srgbClr val="C6282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766560" y="96012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אפס</a:t>
            </a:r>
            <a:endParaRPr lang="en-US" sz="3400" dirty="0"/>
          </a:p>
        </p:txBody>
      </p:sp>
      <p:sp>
        <p:nvSpPr>
          <p:cNvPr id="15" name="Text 13"/>
          <p:cNvSpPr/>
          <p:nvPr/>
        </p:nvSpPr>
        <p:spPr>
          <a:xfrm>
            <a:off x="6766560" y="1737360"/>
            <a:ext cx="201168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סינון</a:t>
            </a:r>
            <a:endParaRPr lang="en-US" sz="1200" dirty="0"/>
          </a:p>
          <a:p>
            <a:pPr algn="ctr" indent="0" marL="0">
              <a:buNone/>
            </a:pPr>
            <a:r>
              <a:rPr lang="en-US" sz="12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סיסטמטי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47472" y="2816352"/>
            <a:ext cx="201168" cy="201168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2743200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בדיקות כדאיות מסורתיות הן ידניות, זמן-רבות ואינן ניתנות להשוואה</a:t>
            </a:r>
            <a:endParaRPr lang="en-US" sz="1400" dirty="0"/>
          </a:p>
        </p:txBody>
      </p:sp>
      <p:sp>
        <p:nvSpPr>
          <p:cNvPr id="18" name="Shape 16"/>
          <p:cNvSpPr/>
          <p:nvPr/>
        </p:nvSpPr>
        <p:spPr>
          <a:xfrm>
            <a:off x="347472" y="3291840"/>
            <a:ext cx="201168" cy="201168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3218688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שמאים אינם יכולים לסרוק מאות פרויקטים ביעילות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347472" y="3767328"/>
            <a:ext cx="201168" cy="201168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694176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היעדר סטנדרטיזציה מוביל להחלטות סובייקטיביות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347472" y="4242816"/>
            <a:ext cx="201168" cy="201168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23" name="Text 21"/>
          <p:cNvSpPr/>
          <p:nvPr/>
        </p:nvSpPr>
        <p:spPr>
          <a:xfrm>
            <a:off x="640080" y="4169664"/>
            <a:ext cx="81381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4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משאבי תכנון יקרים מוצאים על פרויקטים שנדונים לכישלון</a:t>
            </a:r>
            <a:endParaRPr lang="en-US" sz="14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הפתרון — Pipeline מלא מקצה לקצה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1005840"/>
            <a:ext cx="1325880" cy="219456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1005840"/>
            <a:ext cx="1325880" cy="54864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10972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📂</a:t>
            </a:r>
            <a:endParaRPr lang="en-US" sz="2600" dirty="0"/>
          </a:p>
        </p:txBody>
      </p:sp>
      <p:sp>
        <p:nvSpPr>
          <p:cNvPr id="7" name="Text 5"/>
          <p:cNvSpPr/>
          <p:nvPr/>
        </p:nvSpPr>
        <p:spPr>
          <a:xfrm>
            <a:off x="274320" y="16002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274320" y="2011680"/>
            <a:ext cx="1325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עסקאות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שדות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1600200" y="2103120"/>
            <a:ext cx="137160" cy="0"/>
          </a:xfrm>
          <a:prstGeom prst="line">
            <a:avLst/>
          </a:prstGeom>
          <a:noFill/>
          <a:ln w="19050">
            <a:solidFill>
              <a:srgbClr val="1B6B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737360" y="1005840"/>
            <a:ext cx="1325880" cy="219456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737360" y="1005840"/>
            <a:ext cx="1325880" cy="54864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12" name="Text 10"/>
          <p:cNvSpPr/>
          <p:nvPr/>
        </p:nvSpPr>
        <p:spPr>
          <a:xfrm>
            <a:off x="1737360" y="10972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⚙️</a:t>
            </a:r>
            <a:endParaRPr lang="en-US" sz="2600" dirty="0"/>
          </a:p>
        </p:txBody>
      </p:sp>
      <p:sp>
        <p:nvSpPr>
          <p:cNvPr id="13" name="Text 11"/>
          <p:cNvSpPr/>
          <p:nvPr/>
        </p:nvSpPr>
        <p:spPr>
          <a:xfrm>
            <a:off x="1737360" y="16002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737360" y="2011680"/>
            <a:ext cx="1325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+6 פיצ'רים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מחושבים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3063240" y="2103120"/>
            <a:ext cx="137160" cy="0"/>
          </a:xfrm>
          <a:prstGeom prst="line">
            <a:avLst/>
          </a:prstGeom>
          <a:noFill/>
          <a:ln w="19050">
            <a:solidFill>
              <a:srgbClr val="1B6B6B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3200400" y="1005840"/>
            <a:ext cx="1325880" cy="219456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3200400" y="1005840"/>
            <a:ext cx="1325880" cy="54864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18" name="Text 16"/>
          <p:cNvSpPr/>
          <p:nvPr/>
        </p:nvSpPr>
        <p:spPr>
          <a:xfrm>
            <a:off x="3200400" y="10972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🔄</a:t>
            </a:r>
            <a:endParaRPr lang="en-US" sz="2600" dirty="0"/>
          </a:p>
        </p:txBody>
      </p:sp>
      <p:sp>
        <p:nvSpPr>
          <p:cNvPr id="19" name="Text 17"/>
          <p:cNvSpPr/>
          <p:nvPr/>
        </p:nvSpPr>
        <p:spPr>
          <a:xfrm>
            <a:off x="3200400" y="16002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Preprocessing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200400" y="2011680"/>
            <a:ext cx="1325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Scaler +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OneHotEncoder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26280" y="2103120"/>
            <a:ext cx="137160" cy="0"/>
          </a:xfrm>
          <a:prstGeom prst="line">
            <a:avLst/>
          </a:prstGeom>
          <a:noFill/>
          <a:ln w="19050">
            <a:solidFill>
              <a:srgbClr val="1B6B6B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4663440" y="1005840"/>
            <a:ext cx="1325880" cy="219456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4663440" y="1005840"/>
            <a:ext cx="1325880" cy="54864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24" name="Text 22"/>
          <p:cNvSpPr/>
          <p:nvPr/>
        </p:nvSpPr>
        <p:spPr>
          <a:xfrm>
            <a:off x="4663440" y="10972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🤖</a:t>
            </a:r>
            <a:endParaRPr lang="en-US" sz="2600" dirty="0"/>
          </a:p>
        </p:txBody>
      </p:sp>
      <p:sp>
        <p:nvSpPr>
          <p:cNvPr id="25" name="Text 23"/>
          <p:cNvSpPr/>
          <p:nvPr/>
        </p:nvSpPr>
        <p:spPr>
          <a:xfrm>
            <a:off x="4663440" y="16002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Pipeline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663440" y="2011680"/>
            <a:ext cx="1325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מודלים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× Classification + Reg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5989320" y="2103120"/>
            <a:ext cx="137160" cy="0"/>
          </a:xfrm>
          <a:prstGeom prst="line">
            <a:avLst/>
          </a:prstGeom>
          <a:noFill/>
          <a:ln w="19050">
            <a:solidFill>
              <a:srgbClr val="1B6B6B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6126480" y="1005840"/>
            <a:ext cx="1325880" cy="219456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6126480" y="1005840"/>
            <a:ext cx="1325880" cy="54864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30" name="Text 28"/>
          <p:cNvSpPr/>
          <p:nvPr/>
        </p:nvSpPr>
        <p:spPr>
          <a:xfrm>
            <a:off x="6126480" y="10972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🏆</a:t>
            </a:r>
            <a:endParaRPr lang="en-US" sz="2600" dirty="0"/>
          </a:p>
        </p:txBody>
      </p:sp>
      <p:sp>
        <p:nvSpPr>
          <p:cNvPr id="31" name="Text 29"/>
          <p:cNvSpPr/>
          <p:nvPr/>
        </p:nvSpPr>
        <p:spPr>
          <a:xfrm>
            <a:off x="6126480" y="16002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Select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126480" y="2011680"/>
            <a:ext cx="1325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/ RMSE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באופן אוטומטי</a:t>
            </a:r>
            <a:endParaRPr lang="en-US" sz="950" dirty="0"/>
          </a:p>
        </p:txBody>
      </p:sp>
      <p:sp>
        <p:nvSpPr>
          <p:cNvPr id="33" name="Shape 31"/>
          <p:cNvSpPr/>
          <p:nvPr/>
        </p:nvSpPr>
        <p:spPr>
          <a:xfrm>
            <a:off x="7452360" y="2103120"/>
            <a:ext cx="137160" cy="0"/>
          </a:xfrm>
          <a:prstGeom prst="line">
            <a:avLst/>
          </a:prstGeom>
          <a:noFill/>
          <a:ln w="19050">
            <a:solidFill>
              <a:srgbClr val="1B6B6B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7589520" y="1005840"/>
            <a:ext cx="1325880" cy="219456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589520" y="1005840"/>
            <a:ext cx="1325880" cy="54864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36" name="Text 34"/>
          <p:cNvSpPr/>
          <p:nvPr/>
        </p:nvSpPr>
        <p:spPr>
          <a:xfrm>
            <a:off x="7589520" y="1097280"/>
            <a:ext cx="13258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📊</a:t>
            </a:r>
            <a:endParaRPr lang="en-US" sz="2600" dirty="0"/>
          </a:p>
        </p:txBody>
      </p:sp>
      <p:sp>
        <p:nvSpPr>
          <p:cNvPr id="37" name="Text 35"/>
          <p:cNvSpPr/>
          <p:nvPr/>
        </p:nvSpPr>
        <p:spPr>
          <a:xfrm>
            <a:off x="7589520" y="1600200"/>
            <a:ext cx="1325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Streamlit UI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7589520" y="2011680"/>
            <a:ext cx="1325880" cy="10515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+</a:t>
            </a:r>
            <a:endParaRPr lang="en-US" sz="950" dirty="0"/>
          </a:p>
          <a:p>
            <a:pPr algn="ctr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Sensitivity</a:t>
            </a:r>
            <a:endParaRPr lang="en-US" sz="950" dirty="0"/>
          </a:p>
        </p:txBody>
      </p:sp>
      <p:sp>
        <p:nvSpPr>
          <p:cNvPr id="39" name="Text 37"/>
          <p:cNvSpPr/>
          <p:nvPr/>
        </p:nvSpPr>
        <p:spPr>
          <a:xfrm>
            <a:off x="182880" y="4206240"/>
            <a:ext cx="1691640" cy="502920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 ציון 0–100 רציף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1965960" y="4206240"/>
            <a:ext cx="1691640" cy="502920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סיווג בינארי</a:t>
            </a:r>
            <a:endParaRPr lang="en-US" sz="1100" dirty="0"/>
          </a:p>
        </p:txBody>
      </p:sp>
      <p:sp>
        <p:nvSpPr>
          <p:cNvPr id="41" name="Text 39"/>
          <p:cNvSpPr/>
          <p:nvPr/>
        </p:nvSpPr>
        <p:spPr>
          <a:xfrm>
            <a:off x="3749040" y="4206240"/>
            <a:ext cx="1691640" cy="502920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SHAP Explainability</a:t>
            </a:r>
            <a:endParaRPr lang="en-US" sz="1100" dirty="0"/>
          </a:p>
        </p:txBody>
      </p:sp>
      <p:sp>
        <p:nvSpPr>
          <p:cNvPr id="42" name="Text 40"/>
          <p:cNvSpPr/>
          <p:nvPr/>
        </p:nvSpPr>
        <p:spPr>
          <a:xfrm>
            <a:off x="5532120" y="4206240"/>
            <a:ext cx="1691640" cy="502920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 ניתוח רגישות 5 תרחישים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7315200" y="4206240"/>
            <a:ext cx="1691640" cy="502920"/>
          </a:xfrm>
          <a:prstGeom prst="rect">
            <a:avLst/>
          </a:prstGeom>
          <a:solidFill>
            <a:srgbClr val="1A3A5C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🇮🇱  ממשק עברית RTL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נתונים ו-Feature Engineering</a:t>
            </a:r>
            <a:endParaRPr lang="en-US" sz="2600" dirty="0"/>
          </a:p>
        </p:txBody>
      </p:sp>
      <p:sp>
        <p:nvSpPr>
          <p:cNvPr id="4" name="Text 2"/>
          <p:cNvSpPr/>
          <p:nvPr/>
        </p:nvSpPr>
        <p:spPr>
          <a:xfrm>
            <a:off x="4754880" y="100584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6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ה-Dataset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8595360" y="1508760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6" name="Text 4"/>
          <p:cNvSpPr/>
          <p:nvPr/>
        </p:nvSpPr>
        <p:spPr>
          <a:xfrm>
            <a:off x="4754880" y="1444752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500 עסקאות סינתטיות (שוק ישראלי)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8595360" y="1929384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8" name="Text 6"/>
          <p:cNvSpPr/>
          <p:nvPr/>
        </p:nvSpPr>
        <p:spPr>
          <a:xfrm>
            <a:off x="4754880" y="1865376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33 שדות מחולקים ל-4 קטגוריות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8595360" y="2350008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10" name="Text 8"/>
          <p:cNvSpPr/>
          <p:nvPr/>
        </p:nvSpPr>
        <p:spPr>
          <a:xfrm>
            <a:off x="4754880" y="2286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כוילו לפי נתוני מדלן/יד2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8595360" y="2770632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12" name="Text 10"/>
          <p:cNvSpPr/>
          <p:nvPr/>
        </p:nvSpPr>
        <p:spPr>
          <a:xfrm>
            <a:off x="4754880" y="2706624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עלויות ממינהל הבנייה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8595360" y="3191256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14" name="Text 12"/>
          <p:cNvSpPr/>
          <p:nvPr/>
        </p:nvSpPr>
        <p:spPr>
          <a:xfrm>
            <a:off x="4754880" y="3127248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 imbalance: 80% כדאי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74320" y="1005840"/>
            <a:ext cx="411480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Feature Engineering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274320" y="146304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2377440" y="147218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יחס דירות חדש/ישן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320040" y="147218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/ existing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274320" y="182880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77440" y="183794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הכנסה לדירה קיימת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0040" y="183794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revenue / units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274320" y="219456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2377440" y="220370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עלות לדירה חדשה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20040" y="220370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new_units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274320" y="256032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77440" y="256946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שטח כולל חדש מ²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20040" y="256946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units × sqm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274320" y="292608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2377440" y="293522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מינוף שטח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320040" y="293522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new_area / old_area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274320" y="329184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77440" y="330098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עלות לקיים יחסי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320040" y="330098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 / revenue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274320" y="365760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2377440" y="366674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עלות למ² בנייה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320040" y="366674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cost_per_sqm (₪/m²)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274320" y="4023360"/>
            <a:ext cx="4114800" cy="329184"/>
          </a:xfrm>
          <a:prstGeom prst="rect">
            <a:avLst/>
          </a:prstGeom>
          <a:solidFill>
            <a:srgbClr val="111D2B"/>
          </a:solidFill>
          <a:ln w="6350">
            <a:solidFill>
              <a:srgbClr val="1E3A54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377440" y="4032504"/>
            <a:ext cx="196596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חודשי החתמה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20040" y="4032504"/>
            <a:ext cx="201168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5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signing_months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526280" y="914400"/>
            <a:ext cx="0" cy="4023360"/>
          </a:xfrm>
          <a:prstGeom prst="line">
            <a:avLst/>
          </a:prstGeom>
          <a:noFill/>
          <a:ln w="9525">
            <a:solidFill>
              <a:srgbClr val="1B6B6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274320" y="4617720"/>
            <a:ext cx="859536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ההנדסה שיפרה AUC בממוצע +0.04 נקודות | class_weight='balanced' לטיפול ב-imbalance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תוצאות מודלים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2011680" cy="114300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274320" y="868680"/>
            <a:ext cx="2011680" cy="54864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6" name="Text 4"/>
          <p:cNvSpPr/>
          <p:nvPr/>
        </p:nvSpPr>
        <p:spPr>
          <a:xfrm>
            <a:off x="274320" y="896112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0.991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274320" y="14813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AUC-ROC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274320" y="17373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423160" y="868680"/>
            <a:ext cx="2011680" cy="114300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2423160" y="868680"/>
            <a:ext cx="2011680" cy="54864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11" name="Text 9"/>
          <p:cNvSpPr/>
          <p:nvPr/>
        </p:nvSpPr>
        <p:spPr>
          <a:xfrm>
            <a:off x="2423160" y="896112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4.250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2423160" y="14813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2423160" y="17373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572000" y="868680"/>
            <a:ext cx="2011680" cy="114300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572000" y="868680"/>
            <a:ext cx="2011680" cy="54864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16" name="Text 14"/>
          <p:cNvSpPr/>
          <p:nvPr/>
        </p:nvSpPr>
        <p:spPr>
          <a:xfrm>
            <a:off x="4572000" y="896112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0.918</a:t>
            </a:r>
            <a:endParaRPr lang="en-US" sz="2800" dirty="0"/>
          </a:p>
        </p:txBody>
      </p:sp>
      <p:sp>
        <p:nvSpPr>
          <p:cNvPr id="17" name="Text 15"/>
          <p:cNvSpPr/>
          <p:nvPr/>
        </p:nvSpPr>
        <p:spPr>
          <a:xfrm>
            <a:off x="4572000" y="14813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R²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572000" y="17373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Ridge Reg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6720840" y="868680"/>
            <a:ext cx="2011680" cy="1143000"/>
          </a:xfrm>
          <a:prstGeom prst="rect">
            <a:avLst/>
          </a:prstGeom>
          <a:solidFill>
            <a:srgbClr val="111D2B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20840" y="868680"/>
            <a:ext cx="2011680" cy="54864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21" name="Text 19"/>
          <p:cNvSpPr/>
          <p:nvPr/>
        </p:nvSpPr>
        <p:spPr>
          <a:xfrm>
            <a:off x="6720840" y="896112"/>
            <a:ext cx="20116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6/6</a:t>
            </a:r>
            <a:endParaRPr lang="en-US" sz="2800" dirty="0"/>
          </a:p>
        </p:txBody>
      </p:sp>
      <p:sp>
        <p:nvSpPr>
          <p:cNvPr id="22" name="Text 20"/>
          <p:cNvSpPr/>
          <p:nvPr/>
        </p:nvSpPr>
        <p:spPr>
          <a:xfrm>
            <a:off x="6720840" y="1481328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6720840" y="1737360"/>
            <a:ext cx="201168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pass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4754880" y="2240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4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4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754880" y="2606040"/>
          <a:ext cx="41148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B5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מודל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B5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AUC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B5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CV-AUC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Logistic Reg 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0.9913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0.9889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0.9863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0.9904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0.9881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0.9837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0.9612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0.9627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</a:tr>
            </a:tbl>
          </a:graphicData>
        </a:graphic>
      </p:graphicFrame>
      <p:sp>
        <p:nvSpPr>
          <p:cNvPr id="26" name="Text 23"/>
          <p:cNvSpPr/>
          <p:nvPr/>
        </p:nvSpPr>
        <p:spPr>
          <a:xfrm>
            <a:off x="274320" y="2240280"/>
            <a:ext cx="4114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1400" dirty="0"/>
          </a:p>
        </p:txBody>
      </p:sp>
      <p:graphicFrame>
        <p:nvGraphicFramePr>
          <p:cNvPr id="11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74320" y="2606040"/>
          <a:ext cx="411480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914400"/>
                <a:gridCol w="914400"/>
              </a:tblGrid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B5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מודל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B5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RMSE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64B5F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R²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Ridge ★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4.250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0.918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Random Forest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4.614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Gradient Boost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XGBoost Reg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4.757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D0E8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0.897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3A5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D2B"/>
                    </a:solidFill>
                  </a:tcPr>
                </a:tc>
              </a:tr>
            </a:tbl>
          </a:graphicData>
        </a:graphic>
      </p:graphicFrame>
      <p:pic>
        <p:nvPicPr>
          <p:cNvPr id="28" name="Image 0" descr="C:\Users\roieu\Downloads\akrish project\תרגיל 3\urban_renewal_project\docs\figures\01_target_distributio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3931920"/>
            <a:ext cx="8595360" cy="100584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 — אפליקציית Streamlit</a:t>
            </a:r>
            <a:endParaRPr lang="en-US" sz="2600" dirty="0"/>
          </a:p>
        </p:txBody>
      </p:sp>
      <p:pic>
        <p:nvPicPr>
          <p:cNvPr id="4" name="Image 0" descr="C:\Users\roieu\Downloads\akrish project\תרגיל 3\urban_renewal_project\docs\figures\04_score_vs_margin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4320" y="868680"/>
            <a:ext cx="4206240" cy="2834640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274320" y="37216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ציון כדאיות לעומת מרווח גולמי</a:t>
            </a:r>
            <a:endParaRPr lang="en-US" sz="1100" dirty="0"/>
          </a:p>
        </p:txBody>
      </p:sp>
      <p:pic>
        <p:nvPicPr>
          <p:cNvPr id="6" name="Image 1" descr="C:\Users\roieu\Downloads\akrish project\תרגיל 3\urban_renewal_project\docs\figures\02_feasibility_by_city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09160" y="868680"/>
            <a:ext cx="4206240" cy="2834640"/>
          </a:xfrm>
          <a:prstGeom prst="rect">
            <a:avLst/>
          </a:prstGeom>
        </p:spPr>
      </p:pic>
      <p:sp>
        <p:nvSpPr>
          <p:cNvPr id="7" name="Text 3"/>
          <p:cNvSpPr/>
          <p:nvPr/>
        </p:nvSpPr>
        <p:spPr>
          <a:xfrm>
            <a:off x="4709160" y="3721608"/>
            <a:ext cx="4206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שיעור כדאיות לפי עיר</a:t>
            </a:r>
            <a:endParaRPr lang="en-US" sz="1100" dirty="0"/>
          </a:p>
        </p:txBody>
      </p:sp>
      <p:sp>
        <p:nvSpPr>
          <p:cNvPr id="8" name="Text 4"/>
          <p:cNvSpPr/>
          <p:nvPr/>
        </p:nvSpPr>
        <p:spPr>
          <a:xfrm>
            <a:off x="365760" y="4114800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sidebar קלט עם 15+ פרמטרים</a:t>
            </a:r>
            <a:endParaRPr lang="en-US" sz="1200" dirty="0"/>
          </a:p>
        </p:txBody>
      </p:sp>
      <p:sp>
        <p:nvSpPr>
          <p:cNvPr id="9" name="Text 5"/>
          <p:cNvSpPr/>
          <p:nvPr/>
        </p:nvSpPr>
        <p:spPr>
          <a:xfrm>
            <a:off x="365760" y="4315968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ציון גדול + verdict badge</a:t>
            </a:r>
            <a:endParaRPr lang="en-US" sz="1200" dirty="0"/>
          </a:p>
        </p:txBody>
      </p:sp>
      <p:sp>
        <p:nvSpPr>
          <p:cNvPr id="10" name="Text 6"/>
          <p:cNvSpPr/>
          <p:nvPr/>
        </p:nvSpPr>
        <p:spPr>
          <a:xfrm>
            <a:off x="365760" y="4517136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סיכום כלכלי (revenue, costs, profit)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365760" y="4718304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טבלת רגישות 6 תרחישים אוטומטיים</a:t>
            </a:r>
            <a:endParaRPr lang="en-US" sz="1200" dirty="0"/>
          </a:p>
        </p:txBody>
      </p:sp>
      <p:sp>
        <p:nvSpPr>
          <p:cNvPr id="12" name="Text 8"/>
          <p:cNvSpPr/>
          <p:nvPr/>
        </p:nvSpPr>
        <p:spPr>
          <a:xfrm>
            <a:off x="365760" y="4919472"/>
            <a:ext cx="841248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זמן תגובה &lt; 1 שנייה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A3A5C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Insights — מה מנהל את ההחלטה?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274320" y="91440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מרווח גולמי_%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3566160" y="969264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</p:sp>
      <p:sp>
        <p:nvSpPr>
          <p:cNvPr id="6" name="Shape 4"/>
          <p:cNvSpPr/>
          <p:nvPr/>
        </p:nvSpPr>
        <p:spPr>
          <a:xfrm>
            <a:off x="3566160" y="969264"/>
            <a:ext cx="5303520" cy="23774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7" name="Text 5"/>
          <p:cNvSpPr/>
          <p:nvPr/>
        </p:nvSpPr>
        <p:spPr>
          <a:xfrm>
            <a:off x="8961120" y="95097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74320" y="130759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IRR משוערת_%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566160" y="1362456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</p:sp>
      <p:sp>
        <p:nvSpPr>
          <p:cNvPr id="10" name="Shape 8"/>
          <p:cNvSpPr/>
          <p:nvPr/>
        </p:nvSpPr>
        <p:spPr>
          <a:xfrm>
            <a:off x="3566160" y="1362456"/>
            <a:ext cx="4667098" cy="23774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1" name="Text 9"/>
          <p:cNvSpPr/>
          <p:nvPr/>
        </p:nvSpPr>
        <p:spPr>
          <a:xfrm>
            <a:off x="8961120" y="134416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88%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274320" y="170078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עיר (מיקום)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566160" y="1755648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</p:sp>
      <p:sp>
        <p:nvSpPr>
          <p:cNvPr id="14" name="Shape 12"/>
          <p:cNvSpPr/>
          <p:nvPr/>
        </p:nvSpPr>
        <p:spPr>
          <a:xfrm>
            <a:off x="3566160" y="1755648"/>
            <a:ext cx="3288182" cy="23774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5" name="Text 13"/>
          <p:cNvSpPr/>
          <p:nvPr/>
        </p:nvSpPr>
        <p:spPr>
          <a:xfrm>
            <a:off x="8961120" y="173736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62%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274320" y="2093976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גיל הבניין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566160" y="2148840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</p:sp>
      <p:sp>
        <p:nvSpPr>
          <p:cNvPr id="18" name="Shape 16"/>
          <p:cNvSpPr/>
          <p:nvPr/>
        </p:nvSpPr>
        <p:spPr>
          <a:xfrm>
            <a:off x="3566160" y="2148840"/>
            <a:ext cx="2333549" cy="23774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19" name="Text 17"/>
          <p:cNvSpPr/>
          <p:nvPr/>
        </p:nvSpPr>
        <p:spPr>
          <a:xfrm>
            <a:off x="8961120" y="213055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44%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274320" y="248716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הסתברות אישור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3566160" y="2542032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</p:sp>
      <p:sp>
        <p:nvSpPr>
          <p:cNvPr id="22" name="Shape 20"/>
          <p:cNvSpPr/>
          <p:nvPr/>
        </p:nvSpPr>
        <p:spPr>
          <a:xfrm>
            <a:off x="3566160" y="2542032"/>
            <a:ext cx="2015338" cy="23774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23" name="Text 21"/>
          <p:cNvSpPr/>
          <p:nvPr/>
        </p:nvSpPr>
        <p:spPr>
          <a:xfrm>
            <a:off x="8961120" y="252374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38%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274320" y="2880360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עלות_לקיים_יחסי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3566160" y="2935224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</p:sp>
      <p:sp>
        <p:nvSpPr>
          <p:cNvPr id="26" name="Shape 24"/>
          <p:cNvSpPr/>
          <p:nvPr/>
        </p:nvSpPr>
        <p:spPr>
          <a:xfrm>
            <a:off x="3566160" y="2935224"/>
            <a:ext cx="1644091" cy="237744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27" name="Text 25"/>
          <p:cNvSpPr/>
          <p:nvPr/>
        </p:nvSpPr>
        <p:spPr>
          <a:xfrm>
            <a:off x="8961120" y="2916936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31%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74320" y="3273552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משך כולל (חודשים)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566160" y="3328416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</p:sp>
      <p:sp>
        <p:nvSpPr>
          <p:cNvPr id="30" name="Shape 28"/>
          <p:cNvSpPr/>
          <p:nvPr/>
        </p:nvSpPr>
        <p:spPr>
          <a:xfrm>
            <a:off x="3566160" y="3328416"/>
            <a:ext cx="1325880" cy="237744"/>
          </a:xfrm>
          <a:prstGeom prst="rect">
            <a:avLst/>
          </a:prstGeom>
          <a:solidFill>
            <a:srgbClr val="C62828"/>
          </a:solidFill>
          <a:ln/>
        </p:spPr>
      </p:sp>
      <p:sp>
        <p:nvSpPr>
          <p:cNvPr id="31" name="Text 29"/>
          <p:cNvSpPr/>
          <p:nvPr/>
        </p:nvSpPr>
        <p:spPr>
          <a:xfrm>
            <a:off x="8961120" y="3310128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C628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25%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274320" y="3666744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מינוף שטח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3566160" y="3721608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</p:sp>
      <p:sp>
        <p:nvSpPr>
          <p:cNvPr id="34" name="Shape 32"/>
          <p:cNvSpPr/>
          <p:nvPr/>
        </p:nvSpPr>
        <p:spPr>
          <a:xfrm>
            <a:off x="3566160" y="3721608"/>
            <a:ext cx="1060704" cy="23774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5" name="Text 33"/>
          <p:cNvSpPr/>
          <p:nvPr/>
        </p:nvSpPr>
        <p:spPr>
          <a:xfrm>
            <a:off x="8961120" y="3703320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274320" y="4059936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סוג פרויקט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3566160" y="4114800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</p:sp>
      <p:sp>
        <p:nvSpPr>
          <p:cNvPr id="38" name="Shape 36"/>
          <p:cNvSpPr/>
          <p:nvPr/>
        </p:nvSpPr>
        <p:spPr>
          <a:xfrm>
            <a:off x="3566160" y="4114800"/>
            <a:ext cx="795528" cy="23774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39" name="Text 37"/>
          <p:cNvSpPr/>
          <p:nvPr/>
        </p:nvSpPr>
        <p:spPr>
          <a:xfrm>
            <a:off x="8961120" y="409651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15%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274320" y="4453128"/>
            <a:ext cx="32004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2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מחיר מכירה חדש</a:t>
            </a:r>
            <a:endParaRPr lang="en-US" sz="1200" dirty="0"/>
          </a:p>
        </p:txBody>
      </p:sp>
      <p:sp>
        <p:nvSpPr>
          <p:cNvPr id="41" name="Shape 39"/>
          <p:cNvSpPr/>
          <p:nvPr/>
        </p:nvSpPr>
        <p:spPr>
          <a:xfrm>
            <a:off x="3566160" y="4507992"/>
            <a:ext cx="5303520" cy="237744"/>
          </a:xfrm>
          <a:prstGeom prst="rect">
            <a:avLst/>
          </a:prstGeom>
          <a:solidFill>
            <a:srgbClr val="1E3A54"/>
          </a:solidFill>
          <a:ln/>
        </p:spPr>
      </p:sp>
      <p:sp>
        <p:nvSpPr>
          <p:cNvPr id="42" name="Shape 40"/>
          <p:cNvSpPr/>
          <p:nvPr/>
        </p:nvSpPr>
        <p:spPr>
          <a:xfrm>
            <a:off x="3566160" y="4507992"/>
            <a:ext cx="636422" cy="237744"/>
          </a:xfrm>
          <a:prstGeom prst="rect">
            <a:avLst/>
          </a:prstGeom>
          <a:solidFill>
            <a:srgbClr val="2E7D32"/>
          </a:solidFill>
          <a:ln/>
        </p:spPr>
      </p:sp>
      <p:sp>
        <p:nvSpPr>
          <p:cNvPr id="43" name="Text 41"/>
          <p:cNvSpPr/>
          <p:nvPr/>
        </p:nvSpPr>
        <p:spPr>
          <a:xfrm>
            <a:off x="8961120" y="4489704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2E7D3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12%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274320" y="4754880"/>
            <a:ext cx="85953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ירוק = תורם לחיוב | אדום = תורם לשלילה | ערכים יחסיים (TreeExplainer)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192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777240"/>
          </a:xfrm>
          <a:prstGeom prst="rect">
            <a:avLst/>
          </a:prstGeom>
          <a:solidFill>
            <a:srgbClr val="1B6B6B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73152"/>
            <a:ext cx="8595360" cy="62179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מסקנות ותרומה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274320" y="868680"/>
            <a:ext cx="201168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274320" y="896112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🏆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77240" y="896112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AUC = 0.991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777240" y="138988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Classification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2423160" y="868680"/>
            <a:ext cx="201168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423160" y="896112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📉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2926080" y="896112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= 4.25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2926080" y="138988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Regression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0" y="868680"/>
            <a:ext cx="201168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0" y="896112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📊</a:t>
            </a:r>
            <a:endParaRPr lang="en-US" sz="2200" dirty="0"/>
          </a:p>
        </p:txBody>
      </p:sp>
      <p:sp>
        <p:nvSpPr>
          <p:cNvPr id="14" name="Text 12"/>
          <p:cNvSpPr/>
          <p:nvPr/>
        </p:nvSpPr>
        <p:spPr>
          <a:xfrm>
            <a:off x="5074920" y="896112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5074920" y="138988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Explainability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720840" y="868680"/>
            <a:ext cx="2011680" cy="1005840"/>
          </a:xfrm>
          <a:prstGeom prst="rect">
            <a:avLst/>
          </a:prstGeom>
          <a:solidFill>
            <a:srgbClr val="1A3A5C"/>
          </a:solidFill>
          <a:ln w="12700">
            <a:solidFill>
              <a:srgbClr val="1B6B6B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720840" y="896112"/>
            <a:ext cx="50292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⚡</a:t>
            </a:r>
            <a:endParaRPr lang="en-US" sz="2200" dirty="0"/>
          </a:p>
        </p:txBody>
      </p:sp>
      <p:sp>
        <p:nvSpPr>
          <p:cNvPr id="18" name="Text 16"/>
          <p:cNvSpPr/>
          <p:nvPr/>
        </p:nvSpPr>
        <p:spPr>
          <a:xfrm>
            <a:off x="7223760" y="896112"/>
            <a:ext cx="14630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4CAF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1 שנייה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7223760" y="1389888"/>
            <a:ext cx="146304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זמן תגובה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274320" y="2057400"/>
            <a:ext cx="859536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800" b="1" dirty="0">
                <a:solidFill>
                  <a:srgbClr val="64B5F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תרומת הפרויקט</a:t>
            </a:r>
            <a:endParaRPr lang="en-US" sz="1800" dirty="0"/>
          </a:p>
        </p:txBody>
      </p:sp>
      <p:sp>
        <p:nvSpPr>
          <p:cNvPr id="21" name="Shape 19"/>
          <p:cNvSpPr/>
          <p:nvPr/>
        </p:nvSpPr>
        <p:spPr>
          <a:xfrm>
            <a:off x="8732520" y="2578608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22" name="Text 20"/>
          <p:cNvSpPr/>
          <p:nvPr/>
        </p:nvSpPr>
        <p:spPr>
          <a:xfrm>
            <a:off x="365760" y="2514600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כלי pre-screening אוטומטי שמסנן פרויקטים לפני הקצאת משאבי תכנון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8732520" y="2999232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24" name="Text 22"/>
          <p:cNvSpPr/>
          <p:nvPr/>
        </p:nvSpPr>
        <p:spPr>
          <a:xfrm>
            <a:off x="365760" y="2935224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ארכיטקטורת ML pipeline מלאה ב-&lt; 600 שורות Python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8732520" y="3419856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26" name="Text 24"/>
          <p:cNvSpPr/>
          <p:nvPr/>
        </p:nvSpPr>
        <p:spPr>
          <a:xfrm>
            <a:off x="365760" y="3355848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SHAP explainability שמגלה את הגורמים הדומיננטיים לכדאיות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8732520" y="3840480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28" name="Text 26"/>
          <p:cNvSpPr/>
          <p:nvPr/>
        </p:nvSpPr>
        <p:spPr>
          <a:xfrm>
            <a:off x="365760" y="3776472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ממשק Streamlit בעברית עם RTL מלא ו-SHAP visual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8732520" y="4261104"/>
            <a:ext cx="164592" cy="164592"/>
          </a:xfrm>
          <a:prstGeom prst="ellipse">
            <a:avLst/>
          </a:prstGeom>
          <a:solidFill>
            <a:srgbClr val="1B6B6B"/>
          </a:solidFill>
          <a:ln/>
        </p:spPr>
      </p:sp>
      <p:sp>
        <p:nvSpPr>
          <p:cNvPr id="30" name="Text 28"/>
          <p:cNvSpPr/>
          <p:nvPr/>
        </p:nvSpPr>
        <p:spPr>
          <a:xfrm>
            <a:off x="365760" y="4197096"/>
            <a:ext cx="83210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rtl="1" algn="r" indent="0" marL="0">
              <a:buNone/>
            </a:pPr>
            <a:r>
              <a:rPr lang="en-US" sz="1300" dirty="0">
                <a:solidFill>
                  <a:srgbClr val="D0E8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 ישראלי סינתטי מבוסס נתוני שוק אמת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274320" y="4709160"/>
            <a:ext cx="85953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7A9AB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המשך מוצע: הוספת folium map · Streamlit Cloud deployment · batch CSV mode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Urban Renewal Feasibility ML</dc:title>
  <dc:subject>PptxGenJS Presentation</dc:subject>
  <dc:creator>Shaked Akrish</dc:creator>
  <cp:lastModifiedBy>Shaked Akrish</cp:lastModifiedBy>
  <cp:revision>1</cp:revision>
  <dcterms:created xsi:type="dcterms:W3CDTF">2026-03-19T18:36:10Z</dcterms:created>
  <dcterms:modified xsi:type="dcterms:W3CDTF">2026-03-19T18:36:10Z</dcterms:modified>
</cp:coreProperties>
</file>