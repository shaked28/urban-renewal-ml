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25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1225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בדיקת כדאיות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התחדשות עירונית — 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Renewal Feasibility Scoring Tool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365760" y="2880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שקד עקריש</a:t>
            </a:r>
            <a:r>
              <a:rPr lang="en-US" sz="14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מנחה: ד"ר איל זינגר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3200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קורס פרויקט מעשי בלמידת מכונה  ·  סמסטר קיץ תשפ"ה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36576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8308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178308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320040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1772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461772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603504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236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745236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32004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1,800+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2004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פרויקטים פעילים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בישראל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246888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46888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מגיעים לביצוע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בפועל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1772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461772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חודשים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1772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זמן בדיקה ידנית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ממוצע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6656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676656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אין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76656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סינון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שיטתי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47472" y="2816352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640080" y="274320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בדיקות כדאיות מסורתיות הן ידניות, זמן-רבות ואינן ניתנות להשוואה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7472" y="3291840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640080" y="3218688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שמאים אינם יכולים לסרוק מאות פרויקטים ביעילות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3767328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640080" y="3694176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היעדר סטנדרטיזציה מוביל להחלטות סובייקטיביות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47472" y="4242816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640080" y="4169664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משאבי תכנון יקרים מבוזבזים על פרויקטים שנידונים מראש לכישלון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הפתרון — מערכת מלאה מקצה לקצה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שדות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0020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Shape 8"/>
          <p:cNvSpPr/>
          <p:nvPr/>
        </p:nvSpPr>
        <p:spPr>
          <a:xfrm>
            <a:off x="173736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Shape 9"/>
          <p:cNvSpPr/>
          <p:nvPr/>
        </p:nvSpPr>
        <p:spPr>
          <a:xfrm>
            <a:off x="173736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173736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⚙️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3736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3736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פיצ'רים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מחושבים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6324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6" name="Shape 14"/>
          <p:cNvSpPr/>
          <p:nvPr/>
        </p:nvSpPr>
        <p:spPr>
          <a:xfrm>
            <a:off x="320040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8" name="Text 16"/>
          <p:cNvSpPr/>
          <p:nvPr/>
        </p:nvSpPr>
        <p:spPr>
          <a:xfrm>
            <a:off x="320040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20040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 +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2628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Shape 20"/>
          <p:cNvSpPr/>
          <p:nvPr/>
        </p:nvSpPr>
        <p:spPr>
          <a:xfrm>
            <a:off x="466344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Shape 21"/>
          <p:cNvSpPr/>
          <p:nvPr/>
        </p:nvSpPr>
        <p:spPr>
          <a:xfrm>
            <a:off x="466344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466344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66344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מודלים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Classification + Reg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8932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Shape 26"/>
          <p:cNvSpPr/>
          <p:nvPr/>
        </p:nvSpPr>
        <p:spPr>
          <a:xfrm>
            <a:off x="612648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9" name="Shape 27"/>
          <p:cNvSpPr/>
          <p:nvPr/>
        </p:nvSpPr>
        <p:spPr>
          <a:xfrm>
            <a:off x="612648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0" name="Text 28"/>
          <p:cNvSpPr/>
          <p:nvPr/>
        </p:nvSpPr>
        <p:spPr>
          <a:xfrm>
            <a:off x="612648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12648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בחירה אוטומטית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2648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/ RMSE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באופן אוטומטי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45236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4" name="Shape 32"/>
          <p:cNvSpPr/>
          <p:nvPr/>
        </p:nvSpPr>
        <p:spPr>
          <a:xfrm>
            <a:off x="758952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5" name="Shape 33"/>
          <p:cNvSpPr/>
          <p:nvPr/>
        </p:nvSpPr>
        <p:spPr>
          <a:xfrm>
            <a:off x="758952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6" name="Text 34"/>
          <p:cNvSpPr/>
          <p:nvPr/>
        </p:nvSpPr>
        <p:spPr>
          <a:xfrm>
            <a:off x="758952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58952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8952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+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8288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ציון 0–100 רציף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96596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סיווג בינארי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74904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SHAP Explainability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53212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ניתוח רגישות — 6 תרחישים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🇮🇱  ממשק בעברית (RTL)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נתונים ו-Feature Engineering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ה-Dataset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595360" y="1508760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754880" y="144475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 סינתטיות (שוק ישראלי)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595360" y="1929384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754880" y="186537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שדות מחולקים ל-4 קטגוריות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595360" y="2350008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54880" y="2286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כוילו לפי נתוני מדלן/יד2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595360" y="2770632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754880" y="270662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עלויות ממינהל הבנייה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0" y="3191256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754880" y="31272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חוסר איזון במחלקות — 80% כדאי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10058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74320" y="146304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377440" y="147218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יחס דירות חדש/ישן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" y="147218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/ existing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182880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2377440" y="183794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הכנסה לדירה קיימת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183794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/ units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19456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2377440" y="220370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לדירה חדשה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0040" y="220370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new_units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256032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2377440" y="256946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שטח כולל חדש מ²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256946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× sqm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292608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2377440" y="293522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מינוף שטח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0040" y="293522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new_area / old_area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" y="329184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2377440" y="330098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לקיים יחסי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20040" y="330098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revenue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365760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2377440" y="366674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366674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402336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2377440" y="403250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0040" y="403250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26280" y="914400"/>
            <a:ext cx="0" cy="4023360"/>
          </a:xfrm>
          <a:prstGeom prst="line">
            <a:avLst/>
          </a:prstGeom>
          <a:noFill/>
          <a:ln w="9525">
            <a:solidFill>
              <a:srgbClr val="1B6B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הוספת הפיצ'רים המחושבים שיפרה את ה-AUC ב-0.04 בממוצע · class_weight='balanced' לטיפול בחוסר האיזון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 המודלים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27432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Shape 8"/>
          <p:cNvSpPr/>
          <p:nvPr/>
        </p:nvSpPr>
        <p:spPr>
          <a:xfrm>
            <a:off x="242316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242316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42316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2316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Shape 13"/>
          <p:cNvSpPr/>
          <p:nvPr/>
        </p:nvSpPr>
        <p:spPr>
          <a:xfrm>
            <a:off x="457200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457200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0.918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57200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Reg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2084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Shape 18"/>
          <p:cNvSpPr/>
          <p:nvPr/>
        </p:nvSpPr>
        <p:spPr>
          <a:xfrm>
            <a:off x="672084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672084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72084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2084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pass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5488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606040"/>
          <a:ext cx="4114800" cy="1295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מודל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CV-AUC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רגרסיה לוגיסטית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27432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4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606040"/>
          <a:ext cx="4114800" cy="1295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מודל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(L2)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Reg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8" name="Image 0" descr="C:\Users\roieu\Downloads\akrish project\תרגיל 3\urban_renewal_project\docs\figures\01_targe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931920"/>
            <a:ext cx="859536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אפליקציית Streamlit</a:t>
            </a:r>
            <a:endParaRPr lang="en-US" sz="2600" dirty="0"/>
          </a:p>
        </p:txBody>
      </p:sp>
      <p:pic>
        <p:nvPicPr>
          <p:cNvPr id="4" name="Image 0" descr="C:\Users\roieu\Downloads\akrish project\תרגיל 3\urban_renewal_project\docs\figures\04_score_vs_mar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68680"/>
            <a:ext cx="420624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37216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ציון כדאיות לעומת מרווח גולמי</a:t>
            </a:r>
            <a:endParaRPr lang="en-US" sz="1100" dirty="0"/>
          </a:p>
        </p:txBody>
      </p:sp>
      <p:pic>
        <p:nvPicPr>
          <p:cNvPr id="6" name="Image 1" descr="C:\Users\roieu\Downloads\akrish project\תרגיל 3\urban_renewal_project\docs\figures\02_feasibility_by_c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868680"/>
            <a:ext cx="4206240" cy="2834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09160" y="37216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שיעור כדאיות לפי עיר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365760" y="411480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סרגל צד עם 15+ פרמטרי קלט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365760" y="43159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תצוגת ציון גדולה + תג "כדאי / לא כדאי"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65760" y="451713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סיכום כלכלי (הכנסות, עלויות, רווח)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65760" y="4718304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טבלת רגישות — 6 תרחישים אוטומטיים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זמן תגובה &lt; 1 שנייה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Insights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מנהל את ההחלטה?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מרווח גולמי_%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566160" y="969264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Shape 4"/>
          <p:cNvSpPr/>
          <p:nvPr/>
        </p:nvSpPr>
        <p:spPr>
          <a:xfrm>
            <a:off x="3566160" y="969264"/>
            <a:ext cx="5303520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8961120" y="95097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13075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משוערת_%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1362456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Shape 8"/>
          <p:cNvSpPr/>
          <p:nvPr/>
        </p:nvSpPr>
        <p:spPr>
          <a:xfrm>
            <a:off x="3566160" y="1362456"/>
            <a:ext cx="4667098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8961120" y="134416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70078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עיר (מיקום)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66160" y="1755648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Shape 12"/>
          <p:cNvSpPr/>
          <p:nvPr/>
        </p:nvSpPr>
        <p:spPr>
          <a:xfrm>
            <a:off x="3566160" y="1755648"/>
            <a:ext cx="3288182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8961120" y="17373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" y="209397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גיל הבניין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66160" y="2148840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8" name="Shape 16"/>
          <p:cNvSpPr/>
          <p:nvPr/>
        </p:nvSpPr>
        <p:spPr>
          <a:xfrm>
            <a:off x="3566160" y="2148840"/>
            <a:ext cx="2333549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8961120" y="213055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24871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הסתברות אישור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66160" y="2542032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2" name="Shape 20"/>
          <p:cNvSpPr/>
          <p:nvPr/>
        </p:nvSpPr>
        <p:spPr>
          <a:xfrm>
            <a:off x="3566160" y="2542032"/>
            <a:ext cx="2015338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8961120" y="252374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28803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עלות_לקיים_יחסי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566160" y="2935224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6" name="Shape 24"/>
          <p:cNvSpPr/>
          <p:nvPr/>
        </p:nvSpPr>
        <p:spPr>
          <a:xfrm>
            <a:off x="3566160" y="2935224"/>
            <a:ext cx="1644091" cy="23774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8961120" y="2916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327355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משך כולל (חודשים)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566160" y="3328416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0" name="Shape 28"/>
          <p:cNvSpPr/>
          <p:nvPr/>
        </p:nvSpPr>
        <p:spPr>
          <a:xfrm>
            <a:off x="3566160" y="3328416"/>
            <a:ext cx="1325880" cy="23774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1" name="Text 29"/>
          <p:cNvSpPr/>
          <p:nvPr/>
        </p:nvSpPr>
        <p:spPr>
          <a:xfrm>
            <a:off x="8961120" y="33101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4320" y="366674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מינוף שטח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6160" y="3721608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4" name="Shape 32"/>
          <p:cNvSpPr/>
          <p:nvPr/>
        </p:nvSpPr>
        <p:spPr>
          <a:xfrm>
            <a:off x="3566160" y="3721608"/>
            <a:ext cx="1060704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5" name="Text 33"/>
          <p:cNvSpPr/>
          <p:nvPr/>
        </p:nvSpPr>
        <p:spPr>
          <a:xfrm>
            <a:off x="8961120" y="37033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05993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סוג פרויקט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66160" y="4114800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8" name="Shape 36"/>
          <p:cNvSpPr/>
          <p:nvPr/>
        </p:nvSpPr>
        <p:spPr>
          <a:xfrm>
            <a:off x="3566160" y="4114800"/>
            <a:ext cx="795528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9" name="Text 37"/>
          <p:cNvSpPr/>
          <p:nvPr/>
        </p:nvSpPr>
        <p:spPr>
          <a:xfrm>
            <a:off x="8961120" y="409651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74320" y="445312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מחיר מכירה חדש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6160" y="4507992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2" name="Shape 40"/>
          <p:cNvSpPr/>
          <p:nvPr/>
        </p:nvSpPr>
        <p:spPr>
          <a:xfrm>
            <a:off x="3566160" y="4507992"/>
            <a:ext cx="636422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3" name="Text 41"/>
          <p:cNvSpPr/>
          <p:nvPr/>
        </p:nvSpPr>
        <p:spPr>
          <a:xfrm>
            <a:off x="8961120" y="448970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ירוק = תורם לכדאיות · אדום = תורם נגד · ערכי SHAP יחסיים (LinearExplainer — מנורמלים ל-100% עבור הפיצ'ר הדומיננטי)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מסקנות ותרומה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27432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0.991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242316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92608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= 4.25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2608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457200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7492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7492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2084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672084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2376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שנייה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2376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זמן תגובה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205740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תרומת הפרויקט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732520" y="2578608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2" name="Text 20"/>
          <p:cNvSpPr/>
          <p:nvPr/>
        </p:nvSpPr>
        <p:spPr>
          <a:xfrm>
            <a:off x="365760" y="251460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לסינון מוקדם ואוטומטי המסנן פרויקטים לפני הקצאת משאבי תכנון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732520" y="2999232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365760" y="2935224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ארכיטקטורת ML מלאה — פחות מ-900 שורות Python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732520" y="3419856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6" name="Text 24"/>
          <p:cNvSpPr/>
          <p:nvPr/>
        </p:nvSpPr>
        <p:spPr>
          <a:xfrm>
            <a:off x="365760" y="3355848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שמגלה את הגורמים הדומיננטיים לכדאיות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732520" y="3840480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8" name="Text 26"/>
          <p:cNvSpPr/>
          <p:nvPr/>
        </p:nvSpPr>
        <p:spPr>
          <a:xfrm>
            <a:off x="365760" y="3776472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ממשק Streamlit בעברית מלאה (RTL) עם הסברי SHAP חזותיים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732520" y="4261104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0" name="Text 28"/>
          <p:cNvSpPr/>
          <p:nvPr/>
        </p:nvSpPr>
        <p:spPr>
          <a:xfrm>
            <a:off x="365760" y="4197096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ישראלי סינתטי מבוסס נתוני שוק אמת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המשך מוצע: מפת חום גיאוגרפית (folium) · עיבוד אצווה (CSV) · שילוב נתוני שוק חיים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508</Words>
  <Application>Microsoft Office PowerPoint</Application>
  <PresentationFormat>‫הצגה על המסך (16:9)</PresentationFormat>
  <Paragraphs>182</Paragraphs>
  <Slides>8</Slides>
  <Notes>8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Renewal Feasibility ML</dc:title>
  <dc:subject>PptxGenJS Presentation</dc:subject>
  <dc:creator>Shaked Akrish</dc:creator>
  <cp:lastModifiedBy>roie ullman</cp:lastModifiedBy>
  <cp:revision>3</cp:revision>
  <dcterms:created xsi:type="dcterms:W3CDTF">2026-03-19T18:36:10Z</dcterms:created>
  <dcterms:modified xsi:type="dcterms:W3CDTF">2026-03-22T14:36:59Z</dcterms:modified>
</cp:coreProperties>
</file>