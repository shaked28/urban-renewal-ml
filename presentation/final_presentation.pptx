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254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1225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בדיקת כדאיות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התחדשות עירונית — ML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Renewal Feasibility Scoring Tool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6"/>
          <p:cNvSpPr/>
          <p:nvPr/>
        </p:nvSpPr>
        <p:spPr>
          <a:xfrm>
            <a:off x="365760" y="2880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שקד עקריש</a:t>
            </a:r>
            <a:r>
              <a:rPr lang="en-US" sz="14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מנחה: ד"ר איל זינגר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32004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קורס פרויקט מעשי בלמידת מכונה  ·  סמסטר קיץ תשפ"ה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36576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78308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3" name="Text 11"/>
          <p:cNvSpPr/>
          <p:nvPr/>
        </p:nvSpPr>
        <p:spPr>
          <a:xfrm>
            <a:off x="178308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Text 13"/>
          <p:cNvSpPr/>
          <p:nvPr/>
        </p:nvSpPr>
        <p:spPr>
          <a:xfrm>
            <a:off x="320040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1772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Text 15"/>
          <p:cNvSpPr/>
          <p:nvPr/>
        </p:nvSpPr>
        <p:spPr>
          <a:xfrm>
            <a:off x="461772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3504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9" name="Text 17"/>
          <p:cNvSpPr/>
          <p:nvPr/>
        </p:nvSpPr>
        <p:spPr>
          <a:xfrm>
            <a:off x="603504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5236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1" name="Text 19"/>
          <p:cNvSpPr/>
          <p:nvPr/>
        </p:nvSpPr>
        <p:spPr>
          <a:xfrm>
            <a:off x="745236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עסקאות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הבעיה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011680" cy="1645920"/>
          </a:xfrm>
          <a:prstGeom prst="rect">
            <a:avLst/>
          </a:prstGeom>
          <a:solidFill>
            <a:srgbClr val="111D2B"/>
          </a:solidFill>
          <a:ln w="1905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Text 3"/>
          <p:cNvSpPr/>
          <p:nvPr/>
        </p:nvSpPr>
        <p:spPr>
          <a:xfrm>
            <a:off x="320040" y="9601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1,800+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320040" y="17373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פרויקטים פעילים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בישראל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68880" y="914400"/>
            <a:ext cx="2011680" cy="1645920"/>
          </a:xfrm>
          <a:prstGeom prst="rect">
            <a:avLst/>
          </a:prstGeom>
          <a:solidFill>
            <a:srgbClr val="111D2B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8" name="Text 6"/>
          <p:cNvSpPr/>
          <p:nvPr/>
        </p:nvSpPr>
        <p:spPr>
          <a:xfrm>
            <a:off x="2468880" y="9601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468880" y="17373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מגיעים לביצוע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בפועל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17720" y="914400"/>
            <a:ext cx="2011680" cy="1645920"/>
          </a:xfrm>
          <a:prstGeom prst="rect">
            <a:avLst/>
          </a:prstGeom>
          <a:solidFill>
            <a:srgbClr val="111D2B"/>
          </a:solidFill>
          <a:ln w="1905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4617720" y="9601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חודשים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617720" y="17373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זמן בדיקה ידנית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ממוצע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766560" y="914400"/>
            <a:ext cx="2011680" cy="1645920"/>
          </a:xfrm>
          <a:prstGeom prst="rect">
            <a:avLst/>
          </a:prstGeom>
          <a:solidFill>
            <a:srgbClr val="111D2B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Text 12"/>
          <p:cNvSpPr/>
          <p:nvPr/>
        </p:nvSpPr>
        <p:spPr>
          <a:xfrm>
            <a:off x="6766560" y="9601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אפס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766560" y="17373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סינון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סיסטמטי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47472" y="2816352"/>
            <a:ext cx="201168" cy="201168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7" name="Text 15"/>
          <p:cNvSpPr/>
          <p:nvPr/>
        </p:nvSpPr>
        <p:spPr>
          <a:xfrm>
            <a:off x="640080" y="274320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בדיקות כדאיות מסורתיות הן ידניות, זמן-רבות ואינן ניתנות להשוואה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47472" y="3291840"/>
            <a:ext cx="201168" cy="201168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9" name="Text 17"/>
          <p:cNvSpPr/>
          <p:nvPr/>
        </p:nvSpPr>
        <p:spPr>
          <a:xfrm>
            <a:off x="640080" y="3218688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שמאים אינם יכולים לסרוק מאות פרויקטים ביעילות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47472" y="3767328"/>
            <a:ext cx="201168" cy="201168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9"/>
          <p:cNvSpPr/>
          <p:nvPr/>
        </p:nvSpPr>
        <p:spPr>
          <a:xfrm>
            <a:off x="640080" y="3694176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היעדר סטנדרטיזציה מוביל להחלטות סובייקטיביות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47472" y="4242816"/>
            <a:ext cx="201168" cy="201168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3" name="Text 21"/>
          <p:cNvSpPr/>
          <p:nvPr/>
        </p:nvSpPr>
        <p:spPr>
          <a:xfrm>
            <a:off x="640080" y="4169664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משאבי תכנון יקרים מוצאים על פרויקטים שנדונים לכישלון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הפתרון — Pipeline מלא מקצה לקצה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27432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📂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עסקאות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שדות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60020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0" name="Shape 8"/>
          <p:cNvSpPr/>
          <p:nvPr/>
        </p:nvSpPr>
        <p:spPr>
          <a:xfrm>
            <a:off x="173736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Shape 9"/>
          <p:cNvSpPr/>
          <p:nvPr/>
        </p:nvSpPr>
        <p:spPr>
          <a:xfrm>
            <a:off x="173736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2" name="Text 10"/>
          <p:cNvSpPr/>
          <p:nvPr/>
        </p:nvSpPr>
        <p:spPr>
          <a:xfrm>
            <a:off x="173736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⚙️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73736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73736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 פיצ'רים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מחושבים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06324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6" name="Shape 14"/>
          <p:cNvSpPr/>
          <p:nvPr/>
        </p:nvSpPr>
        <p:spPr>
          <a:xfrm>
            <a:off x="320040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Shape 15"/>
          <p:cNvSpPr/>
          <p:nvPr/>
        </p:nvSpPr>
        <p:spPr>
          <a:xfrm>
            <a:off x="320040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8" name="Text 16"/>
          <p:cNvSpPr/>
          <p:nvPr/>
        </p:nvSpPr>
        <p:spPr>
          <a:xfrm>
            <a:off x="320040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20040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040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Scaler +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OneHotEncoder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2628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2" name="Shape 20"/>
          <p:cNvSpPr/>
          <p:nvPr/>
        </p:nvSpPr>
        <p:spPr>
          <a:xfrm>
            <a:off x="466344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3" name="Shape 21"/>
          <p:cNvSpPr/>
          <p:nvPr/>
        </p:nvSpPr>
        <p:spPr>
          <a:xfrm>
            <a:off x="466344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4" name="Text 22"/>
          <p:cNvSpPr/>
          <p:nvPr/>
        </p:nvSpPr>
        <p:spPr>
          <a:xfrm>
            <a:off x="466344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466344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66344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מודלים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Classification + Reg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98932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8" name="Shape 26"/>
          <p:cNvSpPr/>
          <p:nvPr/>
        </p:nvSpPr>
        <p:spPr>
          <a:xfrm>
            <a:off x="612648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9" name="Shape 27"/>
          <p:cNvSpPr/>
          <p:nvPr/>
        </p:nvSpPr>
        <p:spPr>
          <a:xfrm>
            <a:off x="612648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0" name="Text 28"/>
          <p:cNvSpPr/>
          <p:nvPr/>
        </p:nvSpPr>
        <p:spPr>
          <a:xfrm>
            <a:off x="612648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🏆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612648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Select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2648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/ RMSE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באופן אוטומטי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45236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4" name="Shape 32"/>
          <p:cNvSpPr/>
          <p:nvPr/>
        </p:nvSpPr>
        <p:spPr>
          <a:xfrm>
            <a:off x="758952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5" name="Shape 33"/>
          <p:cNvSpPr/>
          <p:nvPr/>
        </p:nvSpPr>
        <p:spPr>
          <a:xfrm>
            <a:off x="758952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6" name="Text 34"/>
          <p:cNvSpPr/>
          <p:nvPr/>
        </p:nvSpPr>
        <p:spPr>
          <a:xfrm>
            <a:off x="758952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758952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58952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+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8288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ציון 0–100 רציף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96596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סיווג בינארי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74904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SHAP Explainability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53212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ניתוח רגישות 5 תרחישים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1520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🇮🇱  ממשק עברית RTL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נתונים ו-Feature Engineering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ה-Dataset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595360" y="1508760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754880" y="1444752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עסקאות סינתטיות (שוק ישראלי)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595360" y="1929384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754880" y="1865376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שדות מחולקים ל-4 קטגוריות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595360" y="2350008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754880" y="2286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כוילו לפי נתוני מדלן/יד2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595360" y="2770632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754880" y="2706624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עלויות ממינהל הבנייה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95360" y="3191256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754880" y="31272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imbalance: 80% כדאי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10058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74320" y="146304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2377440" y="147218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יחס דירות חדש/ישן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" y="147218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/ existing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182880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2377440" y="183794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הכנסה לדירה קיימת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0040" y="183794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/ units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219456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2377440" y="220370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 לדירה חדשה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0040" y="220370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new_units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256032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2377440" y="256946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שטח כולל חדש מ²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0040" y="256946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× sqm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4320" y="292608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2377440" y="293522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מינוף שטח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0040" y="293522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new_area / old_area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74320" y="329184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2377440" y="330098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 לקיים יחסי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20040" y="330098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revenue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74320" y="365760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2377440" y="366674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366674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74320" y="402336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2377440" y="403250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20040" y="403250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26280" y="914400"/>
            <a:ext cx="0" cy="4023360"/>
          </a:xfrm>
          <a:prstGeom prst="line">
            <a:avLst/>
          </a:prstGeom>
          <a:noFill/>
          <a:ln w="9525">
            <a:solidFill>
              <a:srgbClr val="1B6B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274320" y="46177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ההנדסה שיפרה AUC בממוצע +0.04 נקודות | class_weight='balanced' לטיפול ב-imbalance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תוצאות מודלים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011680" cy="114300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2011680" cy="54864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6" name="Text 4"/>
          <p:cNvSpPr/>
          <p:nvPr/>
        </p:nvSpPr>
        <p:spPr>
          <a:xfrm>
            <a:off x="274320" y="89611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74320" y="14813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23160" y="868680"/>
            <a:ext cx="2011680" cy="114300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0" name="Shape 8"/>
          <p:cNvSpPr/>
          <p:nvPr/>
        </p:nvSpPr>
        <p:spPr>
          <a:xfrm>
            <a:off x="2423160" y="868680"/>
            <a:ext cx="2011680" cy="54864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2423160" y="89611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423160" y="14813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23160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0" y="868680"/>
            <a:ext cx="2011680" cy="114300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Shape 13"/>
          <p:cNvSpPr/>
          <p:nvPr/>
        </p:nvSpPr>
        <p:spPr>
          <a:xfrm>
            <a:off x="4572000" y="868680"/>
            <a:ext cx="2011680" cy="54864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6" name="Text 14"/>
          <p:cNvSpPr/>
          <p:nvPr/>
        </p:nvSpPr>
        <p:spPr>
          <a:xfrm>
            <a:off x="4572000" y="89611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0.918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572000" y="14813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0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Reg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20840" y="868680"/>
            <a:ext cx="2011680" cy="114300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0" name="Shape 18"/>
          <p:cNvSpPr/>
          <p:nvPr/>
        </p:nvSpPr>
        <p:spPr>
          <a:xfrm>
            <a:off x="6720840" y="868680"/>
            <a:ext cx="2011680" cy="54864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9"/>
          <p:cNvSpPr/>
          <p:nvPr/>
        </p:nvSpPr>
        <p:spPr>
          <a:xfrm>
            <a:off x="6720840" y="89611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6/6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720840" y="14813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720840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pass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754880" y="2240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606040"/>
          <a:ext cx="4114800" cy="1295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מודל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CV-AUC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 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274320" y="2240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4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606040"/>
          <a:ext cx="4114800" cy="1295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מודל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 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Reg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8" name="Image 0" descr="C:\Users\roieu\Downloads\akrish project\תרגיל 3\urban_renewal_project\docs\figures\01_target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931920"/>
            <a:ext cx="859536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— אפליקציית Streamlit</a:t>
            </a:r>
            <a:endParaRPr lang="en-US" sz="2600" dirty="0"/>
          </a:p>
        </p:txBody>
      </p:sp>
      <p:pic>
        <p:nvPicPr>
          <p:cNvPr id="4" name="Image 0" descr="C:\Users\roieu\Downloads\akrish project\תרגיל 3\urban_renewal_project\docs\figures\04_score_vs_mar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68680"/>
            <a:ext cx="420624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37216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ציון כדאיות לעומת מרווח גולמי</a:t>
            </a:r>
            <a:endParaRPr lang="en-US" sz="1100" dirty="0"/>
          </a:p>
        </p:txBody>
      </p:sp>
      <p:pic>
        <p:nvPicPr>
          <p:cNvPr id="6" name="Image 1" descr="C:\Users\roieu\Downloads\akrish project\תרגיל 3\urban_renewal_project\docs\figures\02_feasibility_by_c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868680"/>
            <a:ext cx="4206240" cy="2834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709160" y="37216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שיעור כדאיות לפי עיר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365760" y="411480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sidebar קלט עם 13 פרמטרים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365760" y="4315968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ציון גדול + verdict badge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365760" y="451713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סיכום כלכלי (revenue, costs, profit)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365760" y="4718304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טבלת רגישות 5 תרחישים אוטומטיים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זמן תגובה &lt; 1 שנייה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Insights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מנהל את ההחלטה?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מרווח גולמי_%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566160" y="969264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6" name="Shape 4"/>
          <p:cNvSpPr/>
          <p:nvPr/>
        </p:nvSpPr>
        <p:spPr>
          <a:xfrm>
            <a:off x="3566160" y="969264"/>
            <a:ext cx="5303520" cy="23774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8961120" y="95097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130759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משוערת_%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66160" y="1362456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" name="Shape 8"/>
          <p:cNvSpPr/>
          <p:nvPr/>
        </p:nvSpPr>
        <p:spPr>
          <a:xfrm>
            <a:off x="3566160" y="1362456"/>
            <a:ext cx="4667098" cy="23774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1" name="Text 9"/>
          <p:cNvSpPr/>
          <p:nvPr/>
        </p:nvSpPr>
        <p:spPr>
          <a:xfrm>
            <a:off x="8961120" y="134416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70078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עיר (מיקום)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566160" y="1755648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4" name="Shape 12"/>
          <p:cNvSpPr/>
          <p:nvPr/>
        </p:nvSpPr>
        <p:spPr>
          <a:xfrm>
            <a:off x="3566160" y="1755648"/>
            <a:ext cx="3288182" cy="23774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5" name="Text 13"/>
          <p:cNvSpPr/>
          <p:nvPr/>
        </p:nvSpPr>
        <p:spPr>
          <a:xfrm>
            <a:off x="8961120" y="17373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4320" y="209397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גיל הבניין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66160" y="2148840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8" name="Shape 16"/>
          <p:cNvSpPr/>
          <p:nvPr/>
        </p:nvSpPr>
        <p:spPr>
          <a:xfrm>
            <a:off x="3566160" y="2148840"/>
            <a:ext cx="2333549" cy="23774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9" name="Text 17"/>
          <p:cNvSpPr/>
          <p:nvPr/>
        </p:nvSpPr>
        <p:spPr>
          <a:xfrm>
            <a:off x="8961120" y="213055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4320" y="248716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הסתברות אישור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566160" y="2542032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2" name="Shape 20"/>
          <p:cNvSpPr/>
          <p:nvPr/>
        </p:nvSpPr>
        <p:spPr>
          <a:xfrm>
            <a:off x="3566160" y="2542032"/>
            <a:ext cx="2015338" cy="23774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3" name="Text 21"/>
          <p:cNvSpPr/>
          <p:nvPr/>
        </p:nvSpPr>
        <p:spPr>
          <a:xfrm>
            <a:off x="8961120" y="252374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74320" y="28803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עלות_לקיים_יחסי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566160" y="2935224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6" name="Shape 24"/>
          <p:cNvSpPr/>
          <p:nvPr/>
        </p:nvSpPr>
        <p:spPr>
          <a:xfrm>
            <a:off x="3566160" y="2935224"/>
            <a:ext cx="1644091" cy="237744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7" name="Text 25"/>
          <p:cNvSpPr/>
          <p:nvPr/>
        </p:nvSpPr>
        <p:spPr>
          <a:xfrm>
            <a:off x="8961120" y="2916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4320" y="327355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משך כולל (חודשים)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566160" y="3328416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0" name="Shape 28"/>
          <p:cNvSpPr/>
          <p:nvPr/>
        </p:nvSpPr>
        <p:spPr>
          <a:xfrm>
            <a:off x="3566160" y="3328416"/>
            <a:ext cx="1325880" cy="237744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1" name="Text 29"/>
          <p:cNvSpPr/>
          <p:nvPr/>
        </p:nvSpPr>
        <p:spPr>
          <a:xfrm>
            <a:off x="8961120" y="33101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74320" y="366674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מינוף שטח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6160" y="3721608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4" name="Shape 32"/>
          <p:cNvSpPr/>
          <p:nvPr/>
        </p:nvSpPr>
        <p:spPr>
          <a:xfrm>
            <a:off x="3566160" y="3721608"/>
            <a:ext cx="1060704" cy="23774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5" name="Text 33"/>
          <p:cNvSpPr/>
          <p:nvPr/>
        </p:nvSpPr>
        <p:spPr>
          <a:xfrm>
            <a:off x="8961120" y="37033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4320" y="405993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סוג פרויקט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66160" y="4114800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8" name="Shape 36"/>
          <p:cNvSpPr/>
          <p:nvPr/>
        </p:nvSpPr>
        <p:spPr>
          <a:xfrm>
            <a:off x="3566160" y="4114800"/>
            <a:ext cx="795528" cy="23774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9" name="Text 37"/>
          <p:cNvSpPr/>
          <p:nvPr/>
        </p:nvSpPr>
        <p:spPr>
          <a:xfrm>
            <a:off x="8961120" y="409651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74320" y="445312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מחיר מכירה חדש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66160" y="4507992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2" name="Shape 40"/>
          <p:cNvSpPr/>
          <p:nvPr/>
        </p:nvSpPr>
        <p:spPr>
          <a:xfrm>
            <a:off x="3566160" y="4507992"/>
            <a:ext cx="636422" cy="23774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3" name="Text 41"/>
          <p:cNvSpPr/>
          <p:nvPr/>
        </p:nvSpPr>
        <p:spPr>
          <a:xfrm>
            <a:off x="8961120" y="448970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74320" y="47548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ירוק = תורם לחיוב | אדום = תורם לשלילה | ערכים יחסיים (TreeExplainer)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מסקנות ותרומה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01168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5" name="Text 3"/>
          <p:cNvSpPr/>
          <p:nvPr/>
        </p:nvSpPr>
        <p:spPr>
          <a:xfrm>
            <a:off x="274320" y="896112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🏆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89611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0.991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3898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868680"/>
            <a:ext cx="201168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9" name="Text 7"/>
          <p:cNvSpPr/>
          <p:nvPr/>
        </p:nvSpPr>
        <p:spPr>
          <a:xfrm>
            <a:off x="2423160" y="896112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📉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926080" y="89611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= 4.25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26080" y="13898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868680"/>
            <a:ext cx="201168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3" name="Text 11"/>
          <p:cNvSpPr/>
          <p:nvPr/>
        </p:nvSpPr>
        <p:spPr>
          <a:xfrm>
            <a:off x="4572000" y="896112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74920" y="89611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74920" y="13898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20840" y="868680"/>
            <a:ext cx="201168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B6B6B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Text 15"/>
          <p:cNvSpPr/>
          <p:nvPr/>
        </p:nvSpPr>
        <p:spPr>
          <a:xfrm>
            <a:off x="6720840" y="896112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223760" y="89611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שנייה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223760" y="13898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זמן תגובה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" y="205740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תרומת הפרויקט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732520" y="2578608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2" name="Text 20"/>
          <p:cNvSpPr/>
          <p:nvPr/>
        </p:nvSpPr>
        <p:spPr>
          <a:xfrm>
            <a:off x="365760" y="2514600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pre-screening אוטומטי שמסנן פרויקטים לפני הקצאת משאבי תכנון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732520" y="2999232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4" name="Text 22"/>
          <p:cNvSpPr/>
          <p:nvPr/>
        </p:nvSpPr>
        <p:spPr>
          <a:xfrm>
            <a:off x="365760" y="2935224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ארכיטקטורת ML pipeline מלאה ב-&lt; 600 שורות Python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732520" y="3419856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6" name="Text 24"/>
          <p:cNvSpPr/>
          <p:nvPr/>
        </p:nvSpPr>
        <p:spPr>
          <a:xfrm>
            <a:off x="365760" y="3355848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שמגלה את הגורמים הדומיננטיים לכדאיות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732520" y="3840480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8" name="Text 26"/>
          <p:cNvSpPr/>
          <p:nvPr/>
        </p:nvSpPr>
        <p:spPr>
          <a:xfrm>
            <a:off x="365760" y="3776472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ממשק Streamlit בעברית עם RTL מלא ו-SHAP visual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732520" y="4261104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0" name="Text 28"/>
          <p:cNvSpPr/>
          <p:nvPr/>
        </p:nvSpPr>
        <p:spPr>
          <a:xfrm>
            <a:off x="365760" y="4197096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ישראלי סינתטי מבוסס נתוני שוק אמת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74320" y="470916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המשך מוצע: הוספת folium map · Streamlit Cloud deployment · batch CSV mode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508</Words>
  <Application>Microsoft Office PowerPoint</Application>
  <PresentationFormat>‫הצגה על המסך (16:9)</PresentationFormat>
  <Paragraphs>182</Paragraphs>
  <Slides>8</Slides>
  <Notes>8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Urban Renewal Feasibility ML</dc:title>
  <dc:subject>PptxGenJS Presentation</dc:subject>
  <dc:creator>Shaked Akrish</dc:creator>
  <cp:lastModifiedBy>roie ullman</cp:lastModifiedBy>
  <cp:revision>3</cp:revision>
  <dcterms:created xsi:type="dcterms:W3CDTF">2026-03-19T18:36:10Z</dcterms:created>
  <dcterms:modified xsi:type="dcterms:W3CDTF">2026-03-22T14:36:59Z</dcterms:modified>
</cp:coreProperties>
</file>