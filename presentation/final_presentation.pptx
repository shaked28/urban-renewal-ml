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2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22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בדיקת כדאיות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התחדשות עירונית — ML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Renewal Feasibility Scoring Tool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0"/>
          </a:xfrm>
          <a:prstGeom prst="line">
            <a:avLst/>
          </a:prstGeom>
          <a:noFill/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שקד עקריש</a:t>
            </a:r>
            <a:r>
              <a:rPr lang="en-US" sz="14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מנחה: ד"ר איל זינגר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קורס פרויקט מעשי בלמידת מכונה  ·  סמסטר קיץ תשפ"ה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1325880" cy="347472"/>
          </a:xfrm>
          <a:prstGeom prst="rect">
            <a:avLst/>
          </a:prstGeom>
          <a:solidFill>
            <a:srgbClr val="1A3A5C"/>
          </a:solidFill>
          <a:ln w="1016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65760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3931920"/>
            <a:ext cx="1325880" cy="347472"/>
          </a:xfrm>
          <a:prstGeom prst="rect">
            <a:avLst/>
          </a:prstGeom>
          <a:solidFill>
            <a:srgbClr val="1A3A5C"/>
          </a:solidFill>
          <a:ln w="1016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1783080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931920"/>
            <a:ext cx="1325880" cy="347472"/>
          </a:xfrm>
          <a:prstGeom prst="rect">
            <a:avLst/>
          </a:prstGeom>
          <a:solidFill>
            <a:srgbClr val="1A3A5C"/>
          </a:solidFill>
          <a:ln w="1016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3200400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931920"/>
            <a:ext cx="1325880" cy="347472"/>
          </a:xfrm>
          <a:prstGeom prst="rect">
            <a:avLst/>
          </a:prstGeom>
          <a:solidFill>
            <a:srgbClr val="1A3A5C"/>
          </a:solidFill>
          <a:ln w="1016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4617720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3931920"/>
            <a:ext cx="1325880" cy="347472"/>
          </a:xfrm>
          <a:prstGeom prst="rect">
            <a:avLst/>
          </a:prstGeom>
          <a:solidFill>
            <a:srgbClr val="1A3A5C"/>
          </a:solidFill>
          <a:ln w="1016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035040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3931920"/>
            <a:ext cx="1325880" cy="347472"/>
          </a:xfrm>
          <a:prstGeom prst="rect">
            <a:avLst/>
          </a:prstGeom>
          <a:solidFill>
            <a:srgbClr val="1A3A5C"/>
          </a:solidFill>
          <a:ln w="1016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7452360" y="393192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עסקאות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1168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פרויקטים פעילים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בישראל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201168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246888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מגיעים לביצוע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בפועל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201168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61772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בדיקה ידנית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ממוצע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2011680" cy="1645920"/>
          </a:xfrm>
          <a:prstGeom prst="rect">
            <a:avLst/>
          </a:prstGeom>
          <a:solidFill>
            <a:srgbClr val="111D2B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6766560" y="9601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סינון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שיטתי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816352"/>
            <a:ext cx="201168" cy="201168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בדיקות כדאיות מסורתיות הן ידניות, זמן-רבות ואינן ניתנות להשוואה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3291840"/>
            <a:ext cx="201168" cy="201168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640080" y="3218688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שמאים אינם יכולים לסרוק מאות פרויקטים ביעילות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7472" y="3767328"/>
            <a:ext cx="201168" cy="201168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640080" y="3694176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היעדר סטנדרטיזציה מוביל להחלטות סובייקטיביות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7472" y="4242816"/>
            <a:ext cx="201168" cy="201168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640080" y="4169664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משאבי תכנון יקרים מבוזבזים על פרויקטים שנידונים מראש לכישלון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 — מערכת מלאה מקצה לקצה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325880" cy="219456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3258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עסקאות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שדות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00200" y="2103120"/>
            <a:ext cx="137160" cy="0"/>
          </a:xfrm>
          <a:prstGeom prst="line">
            <a:avLst/>
          </a:prstGeom>
          <a:noFill/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1737360" y="1005840"/>
            <a:ext cx="1325880" cy="219456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1737360" y="1005840"/>
            <a:ext cx="13258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173736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37360" y="1600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0116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פיצ'רים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מחושבים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3240" y="2103120"/>
            <a:ext cx="137160" cy="0"/>
          </a:xfrm>
          <a:prstGeom prst="line">
            <a:avLst/>
          </a:prstGeom>
          <a:noFill/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1325880" cy="219456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3200400" y="1005840"/>
            <a:ext cx="13258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320040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00400" y="1600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0116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2103120"/>
            <a:ext cx="137160" cy="0"/>
          </a:xfrm>
          <a:prstGeom prst="line">
            <a:avLst/>
          </a:prstGeom>
          <a:noFill/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1325880" cy="219456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13258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466344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663440" y="1600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0116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מודלים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Classification + Reg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2103120"/>
            <a:ext cx="137160" cy="0"/>
          </a:xfrm>
          <a:prstGeom prst="line">
            <a:avLst/>
          </a:prstGeom>
          <a:noFill/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1325880" cy="219456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9" name="Shape 27"/>
          <p:cNvSpPr/>
          <p:nvPr/>
        </p:nvSpPr>
        <p:spPr>
          <a:xfrm>
            <a:off x="6126480" y="1005840"/>
            <a:ext cx="13258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612648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126480" y="1600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בחירה אוטומטית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20116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/ RMSE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באופן אוטומטי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52360" y="2103120"/>
            <a:ext cx="137160" cy="0"/>
          </a:xfrm>
          <a:prstGeom prst="line">
            <a:avLst/>
          </a:prstGeom>
          <a:noFill/>
          <a:ln w="1905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7589520" y="1005840"/>
            <a:ext cx="1325880" cy="219456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5" name="Shape 33"/>
          <p:cNvSpPr/>
          <p:nvPr/>
        </p:nvSpPr>
        <p:spPr>
          <a:xfrm>
            <a:off x="7589520" y="1005840"/>
            <a:ext cx="13258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6" name="Text 34"/>
          <p:cNvSpPr/>
          <p:nvPr/>
        </p:nvSpPr>
        <p:spPr>
          <a:xfrm>
            <a:off x="758952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589520" y="16002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0" y="2011680"/>
            <a:ext cx="1325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2880" y="4206240"/>
            <a:ext cx="1691640" cy="502920"/>
          </a:xfrm>
          <a:prstGeom prst="rect">
            <a:avLst/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ציון 0–100 רציף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965960" y="4206240"/>
            <a:ext cx="1691640" cy="502920"/>
          </a:xfrm>
          <a:prstGeom prst="rect">
            <a:avLst/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סיווג בינארי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49040" y="4206240"/>
            <a:ext cx="1691640" cy="502920"/>
          </a:xfrm>
          <a:prstGeom prst="rect">
            <a:avLst/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Explainability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32120" y="4206240"/>
            <a:ext cx="1691640" cy="502920"/>
          </a:xfrm>
          <a:prstGeom prst="rect">
            <a:avLst/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ניתוח רגישות — 6 תרחישים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4206240"/>
            <a:ext cx="1691640" cy="502920"/>
          </a:xfrm>
          <a:prstGeom prst="rect">
            <a:avLst/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🇮🇱  ממשק בעברית (RTL)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נתונים ו-Feature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ה-Dataset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95360" y="1508760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754880" y="1444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עסקאות סינתטיות (שוק ישראלי)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95360" y="1929384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754880" y="18653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שדות מחולקים ל-4 קטגוריות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95360" y="2350008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5488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כוילו לפי נתוני מדלן/יד2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70632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0" y="27066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עלויות ממינהל הבנייה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3191256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54880" y="31272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חוסר איזון במחלקות — 80% כדאי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377440" y="147218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יחס דירות חדש/ישן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14721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existing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82880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377440" y="183794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הכנסה לדירה קיימת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1837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units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19456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2377440" y="220370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לדירה חדשה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203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new_units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56032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377440" y="256946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שטח כולל חדש מ²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25694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× sqm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377440" y="293522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מינוף שטח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29352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new_area / old_area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29184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2377440" y="330098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לקיים יחסי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" y="33009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revenue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65760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377440" y="366674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" y="3666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23360"/>
            <a:ext cx="4114800" cy="329184"/>
          </a:xfrm>
          <a:prstGeom prst="rect">
            <a:avLst/>
          </a:prstGeom>
          <a:solidFill>
            <a:srgbClr val="111D2B"/>
          </a:solidFill>
          <a:ln w="6350">
            <a:solidFill>
              <a:srgbClr val="1E3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377440" y="403250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40325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26280" y="914400"/>
            <a:ext cx="0" cy="4023360"/>
          </a:xfrm>
          <a:prstGeom prst="line">
            <a:avLst/>
          </a:prstGeom>
          <a:noFill/>
          <a:ln w="9525">
            <a:solidFill>
              <a:srgbClr val="1B6B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הוספת הפיצ'רים המחושבים שיפרה את ה-AUC ב-0.04 בממוצע · class_weight='balanced' לטיפול בחוסר האיזון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תוצאות המודלים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14300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0116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2011680" cy="114300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2423160" y="868680"/>
            <a:ext cx="20116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2423160" y="8961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4.250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2011680" cy="114300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4572000" y="868680"/>
            <a:ext cx="20116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4572000" y="8961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868680"/>
            <a:ext cx="2011680" cy="1143000"/>
          </a:xfrm>
          <a:prstGeom prst="rect">
            <a:avLst/>
          </a:prstGeom>
          <a:solidFill>
            <a:srgbClr val="111D2B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Shape 18"/>
          <p:cNvSpPr/>
          <p:nvPr/>
        </p:nvSpPr>
        <p:spPr>
          <a:xfrm>
            <a:off x="6720840" y="868680"/>
            <a:ext cx="2011680" cy="54864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1" name="Text 19"/>
          <p:cNvSpPr/>
          <p:nvPr/>
        </p:nvSpPr>
        <p:spPr>
          <a:xfrm>
            <a:off x="6720840" y="89611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2084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17373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pass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606040"/>
          <a:ext cx="4114800" cy="1295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B5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מודל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B5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B5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רגרסיה לוגיסטית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27432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4114800" cy="1295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B5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מודל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B5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B5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(L2)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0E8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8" name="Image 0" descr="C:\Users\roieu\Downloads\akrish project\תרגיל 3\urban_renewal_project\docs\figures\01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31920"/>
            <a:ext cx="859536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אפליקציית Streamlit</a:t>
            </a:r>
            <a:endParaRPr lang="en-US" sz="2600" dirty="0"/>
          </a:p>
        </p:txBody>
      </p:sp>
      <p:pic>
        <p:nvPicPr>
          <p:cNvPr id="4" name="Image 0" descr="C:\Users\roieu\Downloads\akrish project\תרגיל 3\urban_renewal_project\docs\figures\04_score_vs_mar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80"/>
            <a:ext cx="42062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721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ציון כדאיות לעומת מרווח גולמי</a:t>
            </a:r>
            <a:endParaRPr lang="en-US" sz="1100" dirty="0"/>
          </a:p>
        </p:txBody>
      </p:sp>
      <p:pic>
        <p:nvPicPr>
          <p:cNvPr id="6" name="Image 1" descr="C:\Users\roieu\Downloads\akrish project\תרגיל 3\urban_renewal_project\docs\figures\02_feasibility_by_c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68680"/>
            <a:ext cx="4206240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160" y="3721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כדאיות לפי עיר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41148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סרגל צד עם 15+ פרמטרי קלט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5760" y="43159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תצוגת ציון גדולה + תג "כדאי / לא כדאי"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451713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סיכום כלכלי (הכנסות, עלויות, רווח)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71830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טבלת רגישות — 6 תרחישים אוטומטיים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זמן תגובה &lt; 1 שנייה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Insights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מנהל את ההחלטה?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מרווח גולמי_%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66160" y="969264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Shape 4"/>
          <p:cNvSpPr/>
          <p:nvPr/>
        </p:nvSpPr>
        <p:spPr>
          <a:xfrm>
            <a:off x="3566160" y="969264"/>
            <a:ext cx="5303520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8961120" y="95097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3075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משוערת_%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1362456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3566160" y="1362456"/>
            <a:ext cx="4667098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8961120" y="134416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7007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עיר (מיקום)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1755648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Shape 12"/>
          <p:cNvSpPr/>
          <p:nvPr/>
        </p:nvSpPr>
        <p:spPr>
          <a:xfrm>
            <a:off x="3566160" y="1755648"/>
            <a:ext cx="3288182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961120" y="17373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0939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 הבניין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2148840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3566160" y="2148840"/>
            <a:ext cx="2333549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8961120" y="213055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4871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הסתברות אישור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2542032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3566160" y="2542032"/>
            <a:ext cx="2015338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8961120" y="252374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880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עלות_לקיים_יחסי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66160" y="2935224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Shape 24"/>
          <p:cNvSpPr/>
          <p:nvPr/>
        </p:nvSpPr>
        <p:spPr>
          <a:xfrm>
            <a:off x="3566160" y="2935224"/>
            <a:ext cx="1644091" cy="23774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7" name="Text 25"/>
          <p:cNvSpPr/>
          <p:nvPr/>
        </p:nvSpPr>
        <p:spPr>
          <a:xfrm>
            <a:off x="8961120" y="291693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3273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משך כולל (חודשים)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66160" y="3328416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Shape 28"/>
          <p:cNvSpPr/>
          <p:nvPr/>
        </p:nvSpPr>
        <p:spPr>
          <a:xfrm>
            <a:off x="3566160" y="3328416"/>
            <a:ext cx="1325880" cy="23774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1" name="Text 29"/>
          <p:cNvSpPr/>
          <p:nvPr/>
        </p:nvSpPr>
        <p:spPr>
          <a:xfrm>
            <a:off x="8961120" y="33101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36667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מינוף שטח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566160" y="3721608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4" name="Shape 32"/>
          <p:cNvSpPr/>
          <p:nvPr/>
        </p:nvSpPr>
        <p:spPr>
          <a:xfrm>
            <a:off x="3566160" y="3721608"/>
            <a:ext cx="1060704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5" name="Text 33"/>
          <p:cNvSpPr/>
          <p:nvPr/>
        </p:nvSpPr>
        <p:spPr>
          <a:xfrm>
            <a:off x="8961120" y="37033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0599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סוג פרויקט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566160" y="4114800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8" name="Shape 36"/>
          <p:cNvSpPr/>
          <p:nvPr/>
        </p:nvSpPr>
        <p:spPr>
          <a:xfrm>
            <a:off x="3566160" y="4114800"/>
            <a:ext cx="795528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9" name="Text 37"/>
          <p:cNvSpPr/>
          <p:nvPr/>
        </p:nvSpPr>
        <p:spPr>
          <a:xfrm>
            <a:off x="8961120" y="409651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4320" y="4453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מחיר מכירה חדש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566160" y="4507992"/>
            <a:ext cx="5303520" cy="237744"/>
          </a:xfrm>
          <a:prstGeom prst="rect">
            <a:avLst/>
          </a:prstGeom>
          <a:solidFill>
            <a:srgbClr val="1E3A54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2" name="Shape 40"/>
          <p:cNvSpPr/>
          <p:nvPr/>
        </p:nvSpPr>
        <p:spPr>
          <a:xfrm>
            <a:off x="3566160" y="4507992"/>
            <a:ext cx="636422" cy="23774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3" name="Text 41"/>
          <p:cNvSpPr/>
          <p:nvPr/>
        </p:nvSpPr>
        <p:spPr>
          <a:xfrm>
            <a:off x="8961120" y="448970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ירוק = תורם לכדאיות · אדום = תורם נגד · ערכי SHAP יחסיים (LinearExplainer — מנורמלים ל-100% עבור הפיצ'ר הדומיננטי)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מסקנות ותרומה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8961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3898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86868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2423160" y="8961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8961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4.25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13898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86868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4572000" y="8961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74920" y="8961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13898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868680"/>
            <a:ext cx="20116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B6B6B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6720840" y="896112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89611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שנייה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13898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תגובה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057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תרומת הפרויקט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732520" y="2578608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365760" y="25146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 לסינון מוקדם ואוטומטי המסנן פרויקטים לפני הקצאת משאבי תכנון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732520" y="2999232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365760" y="29352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ארכיטקטורת ML מלאה — פחות מ-900 שורות Python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32520" y="3419856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365760" y="335584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שמגלה את הגורמים הדומיננטיים לכדאיות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32520" y="3840480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8" name="Text 26"/>
          <p:cNvSpPr/>
          <p:nvPr/>
        </p:nvSpPr>
        <p:spPr>
          <a:xfrm>
            <a:off x="365760" y="377647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Streamlit בעברית מלאה (RTL) עם הסברי SHAP חזותיים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32520" y="4261104"/>
            <a:ext cx="164592" cy="164592"/>
          </a:xfrm>
          <a:prstGeom prst="ellipse">
            <a:avLst/>
          </a:prstGeom>
          <a:solidFill>
            <a:srgbClr val="1B6B6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365760" y="419709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ישראלי סינתטי מבוסס נתוני שוק אמת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המשך מוצע: מפת חום גיאוגרפית (folium) · עיבוד אצווה (CSV) · שילוב נתוני שוק חיים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508</Words>
  <Application>Microsoft Office PowerPoint</Application>
  <PresentationFormat>‫הצגה על המסך (16:9)</PresentationFormat>
  <Paragraphs>182</Paragraphs>
  <Slides>8</Slides>
  <Notes>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Renewal Feasibility ML</dc:title>
  <dc:subject>PptxGenJS Presentation</dc:subject>
  <dc:creator>Shaked Akrish</dc:creator>
  <cp:lastModifiedBy>Shaked Akrish</cp:lastModifiedBy>
  <cp:revision>3</cp:revision>
  <dcterms:created xsi:type="dcterms:W3CDTF">2026-03-19T18:36:10Z</dcterms:created>
  <dcterms:modified xsi:type="dcterms:W3CDTF">2026-03-22T14:36:59Z</dcterms:modified>
</cp:coreProperties>
</file>